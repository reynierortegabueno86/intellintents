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Gating gap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transfer_funds</c:v>
                  </c:pt>
                  <c:pt idx="1">
                    <c:v>sell_investment</c:v>
                  </c:pt>
                  <c:pt idx="2">
                    <c:v>buy_investment</c:v>
                  </c:pt>
                  <c:pt idx="3">
                    <c:v>set_recurring_investment</c:v>
                  </c:pt>
                  <c:pt idx="4">
                    <c:v>withdraw_funds</c:v>
                  </c:pt>
                  <c:pt idx="5">
                    <c:v>request_recommendation</c:v>
                  </c:pt>
                  <c:pt idx="6">
                    <c:v>request_rebalance_advice</c:v>
                  </c:pt>
                  <c:pt idx="7">
                    <c:v>request_portfolio_suggestion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88</c:v>
                </c:pt>
                <c:pt idx="1">
                  <c:v>88</c:v>
                </c:pt>
                <c:pt idx="2">
                  <c:v>83.6</c:v>
                </c:pt>
                <c:pt idx="3">
                  <c:v>82.8</c:v>
                </c:pt>
                <c:pt idx="4">
                  <c:v>77</c:v>
                </c:pt>
                <c:pt idx="5">
                  <c:v>49.4</c:v>
                </c:pt>
                <c:pt idx="6">
                  <c:v>45.7</c:v>
                </c:pt>
                <c:pt idx="7">
                  <c:v>34.1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420624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0"/>
            <a:ext cx="164592" cy="68580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 ·  ALINEAMIENTO LLM  ·  COMPLIANCE FINANCIERO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IntellIntents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de Entregables  ·  v1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anotado · Herramienta de análisis · Reporte de riesgo regulatorio sobre conversaciones reales de un asesor financiero LLM en España.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120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regulatorio: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MiFID II · RIS · PRIIPs · SFDR · GDPR · AML/CFT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· Compliance · Legal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16-mayo-2026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321040" y="1097280"/>
            <a:ext cx="3383280" cy="1371600"/>
          </a:xfrm>
          <a:prstGeom prst="rect">
            <a:avLst/>
          </a:prstGeom>
          <a:solidFill>
            <a:srgbClr val="141A47"/>
          </a:solidFill>
          <a:ln w="9525">
            <a:solidFill>
              <a:srgbClr val="CADCF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325880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052560" y="126187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503920" y="18105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anotado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503920" y="21214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K conv · 514 K turns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321040" y="2743200"/>
            <a:ext cx="3383280" cy="1371600"/>
          </a:xfrm>
          <a:prstGeom prst="rect">
            <a:avLst/>
          </a:prstGeom>
          <a:solidFill>
            <a:srgbClr val="141A47"/>
          </a:solidFill>
          <a:ln w="9525">
            <a:solidFill>
              <a:srgbClr val="CADCF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9718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9052560" y="290779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8503920" y="3456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8503920" y="37673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React · 8 classifiers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321040" y="4389120"/>
            <a:ext cx="3383280" cy="1371600"/>
          </a:xfrm>
          <a:prstGeom prst="rect">
            <a:avLst/>
          </a:prstGeom>
          <a:solidFill>
            <a:srgbClr val="141A47"/>
          </a:solidFill>
          <a:ln w="9525">
            <a:solidFill>
              <a:srgbClr val="CADCF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61772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52560" y="45537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503920" y="51023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riesgo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503920" y="54132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frameworks · 87 leaves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 github.com/reynierortegabueno86/intellintents  ·  rama feature/hierarchical-intent-display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entregables, un único hilo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Reproducir el hallazgo titular — 81.5% suitability gap — corriendo D2 sobre D1 con la guía de D3.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554480"/>
            <a:ext cx="3657600" cy="1097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664208"/>
            <a:ext cx="365760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7556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3258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anotado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146,127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0292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conversaciones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63068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514,814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63068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clasificados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75844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246K / 268K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75844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assistant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3657600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79476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español-ES, firma de inversión real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Taxonomía FII v1 · 87 leaf intents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Schema: Dataset → Conversation → Turn → Classification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Distribución: bucket privado NDA (no público)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65760" y="5989320"/>
            <a:ext cx="36576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6035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· pendiente datasheet + manifest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251960" y="155448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251960" y="1554480"/>
            <a:ext cx="3657600" cy="109728"/>
          </a:xfrm>
          <a:prstGeom prst="rect">
            <a:avLst/>
          </a:prstGeom>
          <a:solidFill>
            <a:srgbClr val="1FAA8C"/>
          </a:solidFill>
          <a:ln w="12700">
            <a:solidFill>
              <a:srgbClr val="1FAA8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1960" y="1664208"/>
            <a:ext cx="3657600" cy="1005840"/>
          </a:xfrm>
          <a:prstGeom prst="rect">
            <a:avLst/>
          </a:prstGeom>
          <a:solidFill>
            <a:srgbClr val="1FAA8C"/>
          </a:solidFill>
          <a:ln w="12700">
            <a:solidFill>
              <a:srgbClr val="1FAA8C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74520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212080" y="17556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400" dirty="0"/>
          </a:p>
        </p:txBody>
      </p:sp>
      <p:sp>
        <p:nvSpPr>
          <p:cNvPr id="25" name="Text 21"/>
          <p:cNvSpPr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IntellIntents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38912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438912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clasificadores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551688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2-stage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551688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cascading default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64464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664464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 verdes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4526280" y="3657600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526280" y="379476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FastAPI · Frontend React/Vite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Cascading + cascading-context (gpt-5.2)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cache SQLite · runs pausables/reanudables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dataset → run → analytics → export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251960" y="5989320"/>
            <a:ext cx="36576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526280" y="6035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main · pendiente tag v1.0.0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138160" y="1554480"/>
            <a:ext cx="3657600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8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8138160" y="1664208"/>
            <a:ext cx="3657600" cy="10058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874520"/>
            <a:ext cx="548640" cy="54864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9098280" y="175564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400" dirty="0"/>
          </a:p>
        </p:txBody>
      </p:sp>
      <p:sp>
        <p:nvSpPr>
          <p:cNvPr id="41" name="Text 36"/>
          <p:cNvSpPr/>
          <p:nvPr/>
        </p:nvSpPr>
        <p:spPr>
          <a:xfrm>
            <a:off x="90982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riesgo regulatorio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27532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800" dirty="0"/>
          </a:p>
        </p:txBody>
      </p:sp>
      <p:sp>
        <p:nvSpPr>
          <p:cNvPr id="43" name="Text 38"/>
          <p:cNvSpPr/>
          <p:nvPr/>
        </p:nvSpPr>
        <p:spPr>
          <a:xfrm>
            <a:off x="827532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cubiertos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940308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</a:t>
            </a:r>
            <a:endParaRPr lang="en-US" sz="1800" dirty="0"/>
          </a:p>
        </p:txBody>
      </p:sp>
      <p:sp>
        <p:nvSpPr>
          <p:cNvPr id="45" name="Text 40"/>
          <p:cNvSpPr/>
          <p:nvPr/>
        </p:nvSpPr>
        <p:spPr>
          <a:xfrm>
            <a:off x="940308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mapeados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0530840" y="2834640"/>
            <a:ext cx="112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capas</a:t>
            </a:r>
            <a:endParaRPr lang="en-US" sz="1800" dirty="0"/>
          </a:p>
        </p:txBody>
      </p:sp>
      <p:sp>
        <p:nvSpPr>
          <p:cNvPr id="47" name="Text 42"/>
          <p:cNvSpPr/>
          <p:nvPr/>
        </p:nvSpPr>
        <p:spPr>
          <a:xfrm>
            <a:off x="10530840" y="3246120"/>
            <a:ext cx="112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framework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8412480" y="3657600"/>
            <a:ext cx="310896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8412480" y="379476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MiFID II · RIS · PRIIPs · SFDR · GDPR · AML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/ conditional / latent / operacional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intent → artículo regulatorio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reales + rewrites compliant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8138160" y="5989320"/>
            <a:ext cx="36576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412480" y="6035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980 líneas · pendiente firma</a:t>
            </a:r>
            <a:endParaRPr lang="en-US" sz="1000" dirty="0"/>
          </a:p>
        </p:txBody>
      </p:sp>
      <p:sp>
        <p:nvSpPr>
          <p:cNvPr id="52" name="Text 47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del dataset: solo bajo NDA — confirmado por sponsor (16-may-2026)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 titular  ·  Suitability gap estructural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cada 100 conversaciones de alto riesgo, 82 carecen de cualquier señal de perfilado MiFID II.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206240" cy="4572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4206240" cy="16459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 ·  MiFID II Art. 25(2)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743200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81.5%</a:t>
            </a:r>
            <a:endParaRPr lang="en-US" sz="8800" dirty="0"/>
          </a:p>
        </p:txBody>
      </p:sp>
      <p:sp>
        <p:nvSpPr>
          <p:cNvPr id="9" name="Text 6"/>
          <p:cNvSpPr/>
          <p:nvPr/>
        </p:nvSpPr>
        <p:spPr>
          <a:xfrm>
            <a:off x="822960" y="4526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conversaciones de alto riesgo sin señal de suitability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31520" y="5257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31520" y="5669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con las 5 dim. MiFID 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011680" y="5257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0.0004%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2011680" y="5669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con preferencia ESG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5257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146 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3291840" y="56692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producción auditadas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120640" y="1691640"/>
            <a:ext cx="649224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534924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intents de exposición — % de conversaciones sin señal de suitability</a:t>
            </a:r>
            <a:endParaRPr lang="en-US" sz="1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303520" y="2286000"/>
          <a:ext cx="6126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Shape 15"/>
          <p:cNvSpPr/>
          <p:nvPr/>
        </p:nvSpPr>
        <p:spPr>
          <a:xfrm>
            <a:off x="5120640" y="5852160"/>
            <a:ext cx="6492240" cy="640080"/>
          </a:xfrm>
          <a:prstGeom prst="rect">
            <a:avLst/>
          </a:prstGeom>
          <a:solidFill>
            <a:srgbClr val="141A47"/>
          </a:solidFill>
          <a:ln w="12700">
            <a:solidFill>
              <a:srgbClr val="141A4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349240" y="5916168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Implicación: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remediación = priorizar gating sobre los 8 leaves de arriba (cubre ≈80% del riesgo regulatorio del corpus).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537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docs/compliance-risk-analysis.md · run 4 · taxonomía FII v1 · abr-2026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operativo  ·  4 sprints de 1 semana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global: un ingeniero externo reproduce el 81.5% en &lt;1 h leyendo el README.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55748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91440" cy="23317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cierre + PPTX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2189988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063240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3337560"/>
            <a:ext cx="21899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a main · tag v1.0.0-rc1 · deck firmado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23260" y="1783080"/>
            <a:ext cx="2555748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23260" y="1783080"/>
            <a:ext cx="91440" cy="2331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1860" y="196596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51860" y="2468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reporte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51860" y="2971800"/>
            <a:ext cx="2189988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51860" y="3063240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1899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PDF firmado · remediation plan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97880" y="1783080"/>
            <a:ext cx="2555748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897880" y="1783080"/>
            <a:ext cx="91440" cy="2331720"/>
          </a:xfrm>
          <a:prstGeom prst="rect">
            <a:avLst/>
          </a:prstGeom>
          <a:solidFill>
            <a:srgbClr val="1FAA8C"/>
          </a:solidFill>
          <a:ln w="12700">
            <a:solidFill>
              <a:srgbClr val="1FA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96596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AA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126480" y="2468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— dataset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26480" y="2971800"/>
            <a:ext cx="2189988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3063240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26480" y="3337560"/>
            <a:ext cx="21899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card · manifest SHA-256 · sample sintético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72500" y="1783080"/>
            <a:ext cx="2555748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72500" y="1783080"/>
            <a:ext cx="91440" cy="233172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01100" y="196596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801100" y="2468880"/>
            <a:ext cx="22814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— release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801100" y="2971800"/>
            <a:ext cx="2189988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01100" y="3063240"/>
            <a:ext cx="2281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01100" y="3337560"/>
            <a:ext cx="21899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v1.0.0 · demo MP4 · cleanup branches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42519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Riesgos críticos y mitigación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48640" y="452628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4709160"/>
            <a:ext cx="82296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1520" y="5074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/ GDPR breach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5486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privado NDA · redacción · datasheet explícito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337560" y="452628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20440" y="4709160"/>
            <a:ext cx="822960" cy="27432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52044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520440" y="5074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 deprecation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520440" y="5486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cache SQLite congela respuestas del run 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126480" y="452628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09360" y="4709160"/>
            <a:ext cx="822960" cy="274320"/>
          </a:xfrm>
          <a:prstGeom prst="rect">
            <a:avLst/>
          </a:prstGeom>
          <a:solidFill>
            <a:srgbClr val="1FAA8C"/>
          </a:solidFill>
          <a:ln w="12700">
            <a:solidFill>
              <a:srgbClr val="1FAA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074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Discrepancia 11/14 cat.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309360" y="5486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dedicado en S4 — reconciliación docs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8915400" y="4526280"/>
            <a:ext cx="269748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098280" y="4709160"/>
            <a:ext cx="82296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098280" y="47091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098280" y="50749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sin firma legal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98280" y="54864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v0.9 draft → v1.0 firmado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  ·  24–48H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acciones para cerrar D1-D2-D3 en el remoto.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71600" y="1828800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Endurecer .gitignore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148840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Excluir *.jsonl, full_classified_*.json, run_export.json, llm_cache.db*, backend/intellintents.db.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59689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371600" y="2596896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de los untracked críticos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2916936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docs/, scripts (analyze_databases.py, export_*.py, import_run.py, build_*.js), IntellIntents_Resumen.pptx.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371600" y="3364992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 abrir PR a main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685032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“Deliverable v1: docs, scripts, executive deck”. Pasa CI + revisión Compliance lead.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413308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371600" y="4133088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bucket NDA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453128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confirma acceso al corpus completo + hashes SHA-256 del manifest.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90118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371600" y="4901184"/>
            <a:ext cx="5897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v1.0.0-rc1 + Steering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5221224"/>
            <a:ext cx="5897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 este deck. Comprometer fecha de v1.0.0 GA al final de S4.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9520" y="1828800"/>
            <a:ext cx="4023360" cy="3931920"/>
          </a:xfrm>
          <a:prstGeom prst="rect">
            <a:avLst/>
          </a:prstGeom>
          <a:solidFill>
            <a:srgbClr val="1E2761"/>
          </a:solidFill>
          <a:ln w="63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1828800"/>
            <a:ext cx="4023360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840"/>
            <a:ext cx="502920" cy="5029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45820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 GIT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863840" y="2788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REMOTO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863840" y="29900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github.com/reynierortegabueno86/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intellintents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287000" y="3044952"/>
            <a:ext cx="1051560" cy="274320"/>
          </a:xfrm>
          <a:prstGeom prst="rect">
            <a:avLst/>
          </a:prstGeom>
          <a:solidFill>
            <a:srgbClr val="1FAA8C"/>
          </a:solidFill>
          <a:ln w="12700">
            <a:solidFill>
              <a:srgbClr val="1FAA8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287000" y="3044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ALCANZABLE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7863840" y="33558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863840" y="355701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feature/hierarchical-intent-display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0287000" y="3611880"/>
            <a:ext cx="1051560" cy="2743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287000" y="3611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41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863840" y="39227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863840" y="41239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archivos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7863840" y="44897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UNTRACKED CRÍTICOS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863840" y="4690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· 6 scripts · PPTX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0287000" y="4745736"/>
            <a:ext cx="1051560" cy="27432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287000" y="474573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41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COMMIT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7863840" y="50566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JSON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7863840" y="5257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GB → bucket NDA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0287000" y="5312664"/>
            <a:ext cx="105156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287000" y="53126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EXCLUIDOS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0" y="6217920"/>
            <a:ext cx="1216152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48640" y="6263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Hector Garcia  ·  Project Lead  ·  hgarcia@gptadvisor.com  ·  16-mayo-2026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IntellIntents — Deliverables v1</dc:title>
  <dc:subject>PptxGenJS Presentation</dc:subject>
  <dc:creator>Hector Garcia · Project Lead</dc:creator>
  <cp:lastModifiedBy>Hector Garcia · Project Lead</cp:lastModifiedBy>
  <cp:revision>1</cp:revision>
  <dcterms:created xsi:type="dcterms:W3CDTF">2026-05-16T11:25:47Z</dcterms:created>
  <dcterms:modified xsi:type="dcterms:W3CDTF">2026-05-16T11:25:47Z</dcterms:modified>
</cp:coreProperties>
</file>